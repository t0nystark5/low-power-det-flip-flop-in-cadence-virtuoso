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65" r:id="rId5"/>
    <p:sldId id="266" r:id="rId6"/>
    <p:sldId id="276" r:id="rId7"/>
    <p:sldId id="263" r:id="rId8"/>
    <p:sldId id="277" r:id="rId9"/>
    <p:sldId id="274" r:id="rId10"/>
    <p:sldId id="270" r:id="rId11"/>
    <p:sldId id="264" r:id="rId12"/>
    <p:sldId id="262" r:id="rId13"/>
    <p:sldId id="272" r:id="rId14"/>
    <p:sldId id="268" r:id="rId15"/>
    <p:sldId id="260" r:id="rId16"/>
    <p:sldId id="271" r:id="rId17"/>
    <p:sldId id="269" r:id="rId18"/>
    <p:sldId id="259" r:id="rId19"/>
    <p:sldId id="273" r:id="rId20"/>
    <p:sldId id="267" r:id="rId21"/>
    <p:sldId id="261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8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1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T2023602 Shudharshan.A" userId="42a648ba-beb7-4985-95d0-d65b9fcb721d" providerId="ADAL" clId="{C9BA7648-6231-439C-AA69-C6BC2EDF4296}"/>
    <pc:docChg chg="custSel addSld modSld">
      <pc:chgData name="IMT2023602 Shudharshan.A" userId="42a648ba-beb7-4985-95d0-d65b9fcb721d" providerId="ADAL" clId="{C9BA7648-6231-439C-AA69-C6BC2EDF4296}" dt="2026-04-16T05:13:20.305" v="16" actId="1076"/>
      <pc:docMkLst>
        <pc:docMk/>
      </pc:docMkLst>
      <pc:sldChg chg="addSp delSp modSp mod">
        <pc:chgData name="IMT2023602 Shudharshan.A" userId="42a648ba-beb7-4985-95d0-d65b9fcb721d" providerId="ADAL" clId="{C9BA7648-6231-439C-AA69-C6BC2EDF4296}" dt="2026-04-16T05:06:05.359" v="9" actId="1076"/>
        <pc:sldMkLst>
          <pc:docMk/>
          <pc:sldMk cId="390880144" sldId="279"/>
        </pc:sldMkLst>
        <pc:spChg chg="add del mod">
          <ac:chgData name="IMT2023602 Shudharshan.A" userId="42a648ba-beb7-4985-95d0-d65b9fcb721d" providerId="ADAL" clId="{C9BA7648-6231-439C-AA69-C6BC2EDF4296}" dt="2026-04-16T05:05:58.553" v="6" actId="478"/>
          <ac:spMkLst>
            <pc:docMk/>
            <pc:sldMk cId="390880144" sldId="279"/>
            <ac:spMk id="6" creationId="{BEA5B3CA-BC7A-C563-593B-F0BABC597893}"/>
          </ac:spMkLst>
        </pc:spChg>
        <pc:picChg chg="add mod">
          <ac:chgData name="IMT2023602 Shudharshan.A" userId="42a648ba-beb7-4985-95d0-d65b9fcb721d" providerId="ADAL" clId="{C9BA7648-6231-439C-AA69-C6BC2EDF4296}" dt="2026-04-16T05:06:05.359" v="9" actId="1076"/>
          <ac:picMkLst>
            <pc:docMk/>
            <pc:sldMk cId="390880144" sldId="279"/>
            <ac:picMk id="3" creationId="{BAD8499B-7A10-5DFC-4A49-D61F4D7EDAA8}"/>
          </ac:picMkLst>
        </pc:picChg>
        <pc:picChg chg="del">
          <ac:chgData name="IMT2023602 Shudharshan.A" userId="42a648ba-beb7-4985-95d0-d65b9fcb721d" providerId="ADAL" clId="{C9BA7648-6231-439C-AA69-C6BC2EDF4296}" dt="2026-04-16T05:05:49.581" v="4" actId="478"/>
          <ac:picMkLst>
            <pc:docMk/>
            <pc:sldMk cId="390880144" sldId="279"/>
            <ac:picMk id="5" creationId="{9F82A47E-6AF3-6ECD-CAAC-DCB2F1A7D6E8}"/>
          </ac:picMkLst>
        </pc:picChg>
      </pc:sldChg>
      <pc:sldChg chg="addSp delSp modSp new mod">
        <pc:chgData name="IMT2023602 Shudharshan.A" userId="42a648ba-beb7-4985-95d0-d65b9fcb721d" providerId="ADAL" clId="{C9BA7648-6231-439C-AA69-C6BC2EDF4296}" dt="2026-04-16T05:13:20.305" v="16" actId="1076"/>
        <pc:sldMkLst>
          <pc:docMk/>
          <pc:sldMk cId="1716568394" sldId="282"/>
        </pc:sldMkLst>
        <pc:spChg chg="del">
          <ac:chgData name="IMT2023602 Shudharshan.A" userId="42a648ba-beb7-4985-95d0-d65b9fcb721d" providerId="ADAL" clId="{C9BA7648-6231-439C-AA69-C6BC2EDF4296}" dt="2026-04-16T05:13:14.050" v="15" actId="478"/>
          <ac:spMkLst>
            <pc:docMk/>
            <pc:sldMk cId="1716568394" sldId="282"/>
            <ac:spMk id="2" creationId="{6C6B3755-003C-677B-BCA6-633272731C4A}"/>
          </ac:spMkLst>
        </pc:spChg>
        <pc:spChg chg="del">
          <ac:chgData name="IMT2023602 Shudharshan.A" userId="42a648ba-beb7-4985-95d0-d65b9fcb721d" providerId="ADAL" clId="{C9BA7648-6231-439C-AA69-C6BC2EDF4296}" dt="2026-04-16T05:06:16.701" v="11" actId="478"/>
          <ac:spMkLst>
            <pc:docMk/>
            <pc:sldMk cId="1716568394" sldId="282"/>
            <ac:spMk id="3" creationId="{3DC236C0-31C2-968B-6641-470AB9AAF582}"/>
          </ac:spMkLst>
        </pc:spChg>
        <pc:picChg chg="add mod">
          <ac:chgData name="IMT2023602 Shudharshan.A" userId="42a648ba-beb7-4985-95d0-d65b9fcb721d" providerId="ADAL" clId="{C9BA7648-6231-439C-AA69-C6BC2EDF4296}" dt="2026-04-16T05:13:20.305" v="16" actId="1076"/>
          <ac:picMkLst>
            <pc:docMk/>
            <pc:sldMk cId="1716568394" sldId="282"/>
            <ac:picMk id="5" creationId="{3FE86ABC-8849-9A97-DAB2-41B916E2D8E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3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0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1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0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1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1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1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1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06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1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3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9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0" name="Picture 89" descr="Circuit board">
            <a:extLst>
              <a:ext uri="{FF2B5EF4-FFF2-40B4-BE49-F238E27FC236}">
                <a16:creationId xmlns:a16="http://schemas.microsoft.com/office/drawing/2014/main" id="{F1FC2BC9-ACE0-F830-B07D-2ADDFD9F3B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28" r="-2" b="-2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8538906" cy="24610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0">
                <a:latin typeface="Rockwell"/>
                <a:ea typeface="Calibri Light"/>
                <a:cs typeface="Calibri Light"/>
              </a:rPr>
              <a:t>Low-Power Redundant-Transition-Free TSPC</a:t>
            </a:r>
            <a:br>
              <a:rPr lang="en-US" sz="3200" b="0" dirty="0">
                <a:latin typeface="Rockwell"/>
                <a:ea typeface="Calibri Light"/>
                <a:cs typeface="Calibri Light"/>
              </a:rPr>
            </a:br>
            <a:r>
              <a:rPr lang="en-US" sz="3200" b="0">
                <a:latin typeface="Rockwell"/>
                <a:ea typeface="Calibri Light"/>
                <a:cs typeface="Calibri Light"/>
              </a:rPr>
              <a:t> Dual-Edge-Triggering Flip-Flop Using</a:t>
            </a:r>
            <a:br>
              <a:rPr lang="en-US" sz="3200" b="0" dirty="0">
                <a:latin typeface="Rockwell"/>
                <a:ea typeface="Calibri Light"/>
                <a:cs typeface="Calibri Light"/>
              </a:rPr>
            </a:br>
            <a:r>
              <a:rPr lang="en-US" sz="3200" b="0">
                <a:latin typeface="Rockwell"/>
                <a:ea typeface="Calibri Light"/>
                <a:cs typeface="Calibri Light"/>
              </a:rPr>
              <a:t> Single-Transistor-Clocked Buffer</a:t>
            </a:r>
            <a:endParaRPr lang="en-US" sz="3200">
              <a:latin typeface="Rockwel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8942" y="3673352"/>
            <a:ext cx="5239114" cy="2538607"/>
          </a:xfrm>
        </p:spPr>
        <p:txBody>
          <a:bodyPr anchor="b">
            <a:normAutofit fontScale="92500" lnSpcReduction="10000"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Bharat </a:t>
            </a:r>
            <a:r>
              <a:rPr lang="en-US" sz="2400" dirty="0" err="1">
                <a:solidFill>
                  <a:srgbClr val="FFFFFF"/>
                </a:solidFill>
              </a:rPr>
              <a:t>Dhulgond</a:t>
            </a:r>
            <a:r>
              <a:rPr lang="en-US" sz="2400" dirty="0">
                <a:solidFill>
                  <a:srgbClr val="FFFFFF"/>
                </a:solidFill>
              </a:rPr>
              <a:t> IMT2023504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Vinay P Ramesh IMT2023541</a:t>
            </a:r>
            <a:br>
              <a:rPr lang="en-US" sz="2400" dirty="0"/>
            </a:br>
            <a:r>
              <a:rPr lang="en-US" sz="2400" dirty="0" err="1">
                <a:solidFill>
                  <a:srgbClr val="FFFFFF"/>
                </a:solidFill>
              </a:rPr>
              <a:t>R.Vaikunth</a:t>
            </a:r>
            <a:r>
              <a:rPr lang="en-US" sz="2400" dirty="0">
                <a:solidFill>
                  <a:srgbClr val="FFFFFF"/>
                </a:solidFill>
              </a:rPr>
              <a:t> IMT2023566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Surya Sumeet Singh IMT2023590</a:t>
            </a:r>
            <a:br>
              <a:rPr lang="en-US" sz="2400" dirty="0"/>
            </a:br>
            <a:r>
              <a:rPr lang="en-US" sz="2400" dirty="0">
                <a:solidFill>
                  <a:srgbClr val="FFFFFF"/>
                </a:solidFill>
              </a:rPr>
              <a:t>Pravin Kumar Dot V IMT2023595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 err="1">
                <a:solidFill>
                  <a:srgbClr val="FFFFFF"/>
                </a:solidFill>
              </a:rPr>
              <a:t>Shudharshan</a:t>
            </a:r>
            <a:r>
              <a:rPr lang="en-US" sz="2400" dirty="0">
                <a:solidFill>
                  <a:srgbClr val="FFFFFF"/>
                </a:solidFill>
              </a:rPr>
              <a:t> A IMT2023602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Harshit Krishna IMT2023613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8419-4248-924C-529A-2C165543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PROBLEM STATEMENT :</a:t>
            </a:r>
            <a:r>
              <a:rPr lang="en-US" sz="3200" b="0" dirty="0"/>
              <a:t> Eliminating Redundant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CF7C-BFE4-CEAA-9A83-9C4C63696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9439"/>
            <a:ext cx="11155680" cy="39910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Flip flops fail to make use of both clock edges.</a:t>
            </a:r>
          </a:p>
          <a:p>
            <a:r>
              <a:rPr lang="en-US" sz="2400"/>
              <a:t>Dual edge triggered (DET) flip flops double the throughput.</a:t>
            </a:r>
            <a:endParaRPr lang="en-US" sz="2400" dirty="0"/>
          </a:p>
          <a:p>
            <a:r>
              <a:rPr lang="en-US" sz="2400"/>
              <a:t>Same throughput with half clock frequency =&gt; d</a:t>
            </a:r>
            <a:r>
              <a:rPr lang="en-US" sz="2400" dirty="0"/>
              <a:t>ouble power efficiency.</a:t>
            </a:r>
          </a:p>
          <a:p>
            <a:r>
              <a:rPr lang="en-US" sz="2400"/>
              <a:t>Existing DET designs have redundant transitions in intermediate nodes, even when the input does not change =&gt; unnecessary</a:t>
            </a:r>
            <a:r>
              <a:rPr lang="en-US" sz="2400" dirty="0"/>
              <a:t> wastage of power.</a:t>
            </a:r>
          </a:p>
          <a:p>
            <a:r>
              <a:rPr lang="en-US" sz="2400" dirty="0"/>
              <a:t>Proposed DET flip flop design eliminates such redundancies in transitions making it a power efficient dual edge triggered flip flop.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54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1B5F-98EC-042E-97F7-7BE939556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95240-D320-C92A-C88C-629D463D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34608"/>
            <a:ext cx="11155680" cy="44485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The transistor level schematics of three different flip flops were implemented in Cadence Virtuoso. They are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Floating Node C element DET </a:t>
            </a:r>
            <a:r>
              <a:rPr lang="en-US" sz="2000" dirty="0"/>
              <a:t>(FNC_DET)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Fully Static True-Single-Phase-Clocked (FS</a:t>
            </a:r>
            <a:r>
              <a:rPr lang="en-US" sz="2000" dirty="0"/>
              <a:t>_TSPC_DET)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Proposed Single Transistor Clocked DET (STC_DET)</a:t>
            </a:r>
          </a:p>
          <a:p>
            <a:r>
              <a:rPr lang="en-US" sz="2000" dirty="0"/>
              <a:t>Transistor sizes used are as given in the paper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PMOS: 600nm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NMOS: 300nm</a:t>
            </a:r>
          </a:p>
          <a:p>
            <a:r>
              <a:rPr lang="en-US" sz="2000" dirty="0"/>
              <a:t>Simulation and transient analysis were done. Waveforms and results were obtained for all the three flip flops.</a:t>
            </a:r>
          </a:p>
          <a:p>
            <a:r>
              <a:rPr lang="en-US" sz="2000" dirty="0"/>
              <a:t>Setup time was roughly estimated using the plots.</a:t>
            </a:r>
          </a:p>
        </p:txBody>
      </p:sp>
    </p:spTree>
    <p:extLst>
      <p:ext uri="{BB962C8B-B14F-4D97-AF65-F5344CB8AC3E}">
        <p14:creationId xmlns:p14="http://schemas.microsoft.com/office/powerpoint/2010/main" val="1229451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4CE0-3645-626C-91F6-9EB14048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FBBF7AD-C78E-654E-E0A8-EA4C3C2AB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2CEBD82-12C2-3C39-0B16-CF264F8139DF}"/>
              </a:ext>
            </a:extLst>
          </p:cNvPr>
          <p:cNvSpPr/>
          <p:nvPr/>
        </p:nvSpPr>
        <p:spPr>
          <a:xfrm>
            <a:off x="521208" y="5729196"/>
            <a:ext cx="17190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TGFF</a:t>
            </a:r>
          </a:p>
        </p:txBody>
      </p:sp>
    </p:spTree>
    <p:extLst>
      <p:ext uri="{BB962C8B-B14F-4D97-AF65-F5344CB8AC3E}">
        <p14:creationId xmlns:p14="http://schemas.microsoft.com/office/powerpoint/2010/main" val="222187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31BD86-EEC0-4C76-CD2A-A217949ED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8" y="-29832"/>
            <a:ext cx="11635273" cy="6887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72CA3D-1764-B765-03E2-E367356A6ABB}"/>
              </a:ext>
            </a:extLst>
          </p:cNvPr>
          <p:cNvSpPr txBox="1"/>
          <p:nvPr/>
        </p:nvSpPr>
        <p:spPr>
          <a:xfrm>
            <a:off x="7508811" y="5124453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TGFF</a:t>
            </a:r>
          </a:p>
        </p:txBody>
      </p:sp>
    </p:spTree>
    <p:extLst>
      <p:ext uri="{BB962C8B-B14F-4D97-AF65-F5344CB8AC3E}">
        <p14:creationId xmlns:p14="http://schemas.microsoft.com/office/powerpoint/2010/main" val="37027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D2E8B-1CD8-2976-CE30-97004B20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A9D7EEB-B4D5-FF7F-E99F-3FBFC04D2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362980" cy="693264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74674C5-B336-1055-1707-4C8594560226}"/>
              </a:ext>
            </a:extLst>
          </p:cNvPr>
          <p:cNvGrpSpPr/>
          <p:nvPr/>
        </p:nvGrpSpPr>
        <p:grpSpPr>
          <a:xfrm>
            <a:off x="7052236" y="4775437"/>
            <a:ext cx="5310744" cy="2082563"/>
            <a:chOff x="6268547" y="4641167"/>
            <a:chExt cx="5310744" cy="2082563"/>
          </a:xfrm>
        </p:grpSpPr>
        <p:pic>
          <p:nvPicPr>
            <p:cNvPr id="6" name="Content Placeholder 4">
              <a:extLst>
                <a:ext uri="{FF2B5EF4-FFF2-40B4-BE49-F238E27FC236}">
                  <a16:creationId xmlns:a16="http://schemas.microsoft.com/office/drawing/2014/main" id="{D595BF35-0351-A6D7-14F5-737F8352D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1" t="18996" r="7216"/>
            <a:stretch>
              <a:fillRect/>
            </a:stretch>
          </p:blipFill>
          <p:spPr>
            <a:xfrm>
              <a:off x="6268547" y="4641167"/>
              <a:ext cx="5310744" cy="208256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C734BA-9E13-BF28-7CD7-D13932651C04}"/>
                </a:ext>
              </a:extLst>
            </p:cNvPr>
            <p:cNvSpPr/>
            <p:nvPr/>
          </p:nvSpPr>
          <p:spPr>
            <a:xfrm>
              <a:off x="6352522" y="4721291"/>
              <a:ext cx="1204368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TGFF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538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241C-00C3-0802-FA76-7D419163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BAEF1C-E627-9076-2C30-C974FE456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9369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F93971-19E6-B328-0757-C396DB6429FA}"/>
              </a:ext>
            </a:extLst>
          </p:cNvPr>
          <p:cNvSpPr/>
          <p:nvPr/>
        </p:nvSpPr>
        <p:spPr>
          <a:xfrm>
            <a:off x="1716832" y="3209731"/>
            <a:ext cx="29364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TSPC_DET</a:t>
            </a:r>
            <a:endParaRPr lang="en-US" sz="3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606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38A3-77D0-C04C-A4EC-A78EF183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8FAF32-79E3-7755-7ECD-9952214D0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33" y="0"/>
            <a:ext cx="1135103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E9494C-B943-2EFE-80CE-AB7A202AC342}"/>
              </a:ext>
            </a:extLst>
          </p:cNvPr>
          <p:cNvSpPr/>
          <p:nvPr/>
        </p:nvSpPr>
        <p:spPr>
          <a:xfrm>
            <a:off x="1383836" y="6018446"/>
            <a:ext cx="242636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TSPC_DET</a:t>
            </a:r>
          </a:p>
        </p:txBody>
      </p:sp>
    </p:spTree>
    <p:extLst>
      <p:ext uri="{BB962C8B-B14F-4D97-AF65-F5344CB8AC3E}">
        <p14:creationId xmlns:p14="http://schemas.microsoft.com/office/powerpoint/2010/main" val="3791756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8186EB-834D-9D5F-03C6-B9D8C4395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C1EFE0-EA1A-3B24-E25A-FF9ADF15F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7"/>
          <a:stretch>
            <a:fillRect/>
          </a:stretch>
        </p:blipFill>
        <p:spPr>
          <a:xfrm>
            <a:off x="7158814" y="3778898"/>
            <a:ext cx="5033186" cy="29111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3C65AC-220C-02E6-37DC-C2F103EA6414}"/>
              </a:ext>
            </a:extLst>
          </p:cNvPr>
          <p:cNvSpPr/>
          <p:nvPr/>
        </p:nvSpPr>
        <p:spPr>
          <a:xfrm>
            <a:off x="6204858" y="3778898"/>
            <a:ext cx="295677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TSPC_DET</a:t>
            </a:r>
          </a:p>
        </p:txBody>
      </p:sp>
    </p:spTree>
    <p:extLst>
      <p:ext uri="{BB962C8B-B14F-4D97-AF65-F5344CB8AC3E}">
        <p14:creationId xmlns:p14="http://schemas.microsoft.com/office/powerpoint/2010/main" val="20988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9C80-3B6B-6416-2A31-86F129485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DFB34A-0334-5B66-23E8-B3D0C3DDF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AA7CA0-FF2D-370D-5C1A-F135ECC91F74}"/>
              </a:ext>
            </a:extLst>
          </p:cNvPr>
          <p:cNvSpPr/>
          <p:nvPr/>
        </p:nvSpPr>
        <p:spPr>
          <a:xfrm>
            <a:off x="589969" y="326772"/>
            <a:ext cx="19800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S_DET</a:t>
            </a:r>
            <a:endParaRPr lang="en-US" sz="5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798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E1411-DBED-169B-8310-DFCBDF0A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6A0FE9-3B76-18A7-0F4E-519817BAA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81" y="-86688"/>
            <a:ext cx="11630023" cy="68793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7B0604-1EEE-4184-D32F-0FF03B2B53D5}"/>
              </a:ext>
            </a:extLst>
          </p:cNvPr>
          <p:cNvSpPr/>
          <p:nvPr/>
        </p:nvSpPr>
        <p:spPr>
          <a:xfrm>
            <a:off x="9657184" y="5029200"/>
            <a:ext cx="212212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S_DET</a:t>
            </a:r>
          </a:p>
        </p:txBody>
      </p:sp>
    </p:spTree>
    <p:extLst>
      <p:ext uri="{BB962C8B-B14F-4D97-AF65-F5344CB8AC3E}">
        <p14:creationId xmlns:p14="http://schemas.microsoft.com/office/powerpoint/2010/main" val="168708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E3444B-ED57-2042-6F37-5B9593E19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7" t="16752" r="128" b="4069"/>
          <a:stretch>
            <a:fillRect/>
          </a:stretch>
        </p:blipFill>
        <p:spPr>
          <a:xfrm>
            <a:off x="-167952" y="0"/>
            <a:ext cx="12359952" cy="6858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803CAD-E339-3FE1-545F-EF3EE72D7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803" y="2883159"/>
            <a:ext cx="3813330" cy="385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7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E8E8-F299-C6BF-A265-22039EA4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FD8FD1-7429-4782-E162-B4A669FA7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77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0B4929-38E5-D3FB-40FB-C9C8AB2F2203}"/>
              </a:ext>
            </a:extLst>
          </p:cNvPr>
          <p:cNvSpPr/>
          <p:nvPr/>
        </p:nvSpPr>
        <p:spPr>
          <a:xfrm>
            <a:off x="2542683" y="3035135"/>
            <a:ext cx="229203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4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FS_TSPC</a:t>
            </a:r>
            <a:endParaRPr lang="en-US" sz="4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015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635-AA2F-C750-548B-9FD8D23E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EBA3AE-073E-F4AA-2E70-781A59AB4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96" y="0"/>
            <a:ext cx="1165393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4A4A72-B1EC-3E3E-C099-0DD6B3C9CB29}"/>
              </a:ext>
            </a:extLst>
          </p:cNvPr>
          <p:cNvSpPr/>
          <p:nvPr/>
        </p:nvSpPr>
        <p:spPr>
          <a:xfrm>
            <a:off x="985262" y="5786906"/>
            <a:ext cx="210384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FS_TSPC</a:t>
            </a:r>
          </a:p>
        </p:txBody>
      </p:sp>
    </p:spTree>
    <p:extLst>
      <p:ext uri="{BB962C8B-B14F-4D97-AF65-F5344CB8AC3E}">
        <p14:creationId xmlns:p14="http://schemas.microsoft.com/office/powerpoint/2010/main" val="524611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7B9A-5104-B322-8F3D-F8177283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3B6B4B2A-7D2E-5A48-8A8E-D4E5A80BE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" t="3204" r="-197" b="-169"/>
          <a:stretch>
            <a:fillRect/>
          </a:stretch>
        </p:blipFill>
        <p:spPr>
          <a:xfrm>
            <a:off x="-804" y="13147"/>
            <a:ext cx="12192320" cy="6840620"/>
          </a:xfrm>
          <a:prstGeom prst="rect">
            <a:avLst/>
          </a:prstGeom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B4D6ED0F-52CF-4EA3-1300-BAB8D6203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49" y="3826325"/>
            <a:ext cx="4167740" cy="26363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E787F2-6DEA-C26C-90A5-F61069E5A43F}"/>
              </a:ext>
            </a:extLst>
          </p:cNvPr>
          <p:cNvSpPr txBox="1"/>
          <p:nvPr/>
        </p:nvSpPr>
        <p:spPr>
          <a:xfrm>
            <a:off x="10415324" y="619657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FS-TSPC_DET</a:t>
            </a:r>
          </a:p>
        </p:txBody>
      </p:sp>
    </p:spTree>
    <p:extLst>
      <p:ext uri="{BB962C8B-B14F-4D97-AF65-F5344CB8AC3E}">
        <p14:creationId xmlns:p14="http://schemas.microsoft.com/office/powerpoint/2010/main" val="360779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588A-A331-9110-B2C4-4C8707C5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DDD912-8CEB-D5A6-39F7-7769A9DAE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987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A0A2D-8546-BDF6-EC29-1ECBD1A348C9}"/>
              </a:ext>
            </a:extLst>
          </p:cNvPr>
          <p:cNvSpPr/>
          <p:nvPr/>
        </p:nvSpPr>
        <p:spPr>
          <a:xfrm>
            <a:off x="1473605" y="5785180"/>
            <a:ext cx="33105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FN_C_DET</a:t>
            </a:r>
            <a:endParaRPr lang="en-US" sz="5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4711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0DC0-F57E-C33C-E541-D7E33E4F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DFAA27-C3B2-000D-FCB9-5490732EF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2" y="0"/>
            <a:ext cx="117379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DE99A5-0E8A-ADED-6888-FE2E88B735A8}"/>
              </a:ext>
            </a:extLst>
          </p:cNvPr>
          <p:cNvSpPr/>
          <p:nvPr/>
        </p:nvSpPr>
        <p:spPr>
          <a:xfrm>
            <a:off x="953952" y="5525649"/>
            <a:ext cx="239039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FN_C DET</a:t>
            </a:r>
          </a:p>
        </p:txBody>
      </p:sp>
    </p:spTree>
    <p:extLst>
      <p:ext uri="{BB962C8B-B14F-4D97-AF65-F5344CB8AC3E}">
        <p14:creationId xmlns:p14="http://schemas.microsoft.com/office/powerpoint/2010/main" val="1458386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C9DE7-18D5-0D67-0C90-1B67C0C1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86666A71-5683-EAA4-E5B5-1CC82049F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" t="3055" r="-74" b="-158"/>
          <a:stretch>
            <a:fillRect/>
          </a:stretch>
        </p:blipFill>
        <p:spPr>
          <a:xfrm>
            <a:off x="-1008" y="-17678"/>
            <a:ext cx="12190712" cy="6878705"/>
          </a:xfrm>
          <a:prstGeom prst="rect">
            <a:avLst/>
          </a:prstGeom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2FE7BA16-E0FA-D42F-BE3D-FBA9BA2B3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273" y="3849576"/>
            <a:ext cx="5103159" cy="26529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94BFF8-8831-561D-5DE8-C9217A3B8D6E}"/>
              </a:ext>
            </a:extLst>
          </p:cNvPr>
          <p:cNvSpPr txBox="1"/>
          <p:nvPr/>
        </p:nvSpPr>
        <p:spPr>
          <a:xfrm>
            <a:off x="9384263" y="384957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FN_C-DET </a:t>
            </a:r>
          </a:p>
        </p:txBody>
      </p:sp>
    </p:spTree>
    <p:extLst>
      <p:ext uri="{BB962C8B-B14F-4D97-AF65-F5344CB8AC3E}">
        <p14:creationId xmlns:p14="http://schemas.microsoft.com/office/powerpoint/2010/main" val="255949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6610-BEB0-E49F-04CF-7EDCE6B7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E42FB2-8657-2EC6-34F8-7578CD134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26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5962E0-58BF-0727-B395-FCC0F790C809}"/>
              </a:ext>
            </a:extLst>
          </p:cNvPr>
          <p:cNvSpPr/>
          <p:nvPr/>
        </p:nvSpPr>
        <p:spPr>
          <a:xfrm>
            <a:off x="2987853" y="0"/>
            <a:ext cx="32305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PROPOSED STC</a:t>
            </a:r>
            <a:endParaRPr lang="en-US" sz="3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5621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2C0A6C-7A0C-D447-8037-4B86233DC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31" y="0"/>
            <a:ext cx="11383347" cy="68742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935572-CEB7-6623-F0AA-2D9DEF1525F8}"/>
              </a:ext>
            </a:extLst>
          </p:cNvPr>
          <p:cNvSpPr/>
          <p:nvPr/>
        </p:nvSpPr>
        <p:spPr>
          <a:xfrm>
            <a:off x="1027281" y="5617229"/>
            <a:ext cx="341939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Proposed STC</a:t>
            </a:r>
          </a:p>
        </p:txBody>
      </p:sp>
    </p:spTree>
    <p:extLst>
      <p:ext uri="{BB962C8B-B14F-4D97-AF65-F5344CB8AC3E}">
        <p14:creationId xmlns:p14="http://schemas.microsoft.com/office/powerpoint/2010/main" val="2046768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 shot of a graph&#10;&#10;AI-generated content may be incorrect.">
            <a:extLst>
              <a:ext uri="{FF2B5EF4-FFF2-40B4-BE49-F238E27FC236}">
                <a16:creationId xmlns:a16="http://schemas.microsoft.com/office/drawing/2014/main" id="{29E36BD1-1096-048D-C2F7-30B80F276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" t="3204" r="-121" b="-122"/>
          <a:stretch>
            <a:fillRect/>
          </a:stretch>
        </p:blipFill>
        <p:spPr>
          <a:xfrm>
            <a:off x="-5558" y="-2478"/>
            <a:ext cx="12192908" cy="6866719"/>
          </a:xfrm>
          <a:prstGeom prst="rect">
            <a:avLst/>
          </a:prstGeom>
        </p:spPr>
      </p:pic>
      <p:pic>
        <p:nvPicPr>
          <p:cNvPr id="8" name="Picture 7" descr="A diagram of a computer circuit&#10;&#10;AI-generated content may be incorrect.">
            <a:extLst>
              <a:ext uri="{FF2B5EF4-FFF2-40B4-BE49-F238E27FC236}">
                <a16:creationId xmlns:a16="http://schemas.microsoft.com/office/drawing/2014/main" id="{65A3AD29-6E11-8D97-2D60-9731A78C5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2" t="-1397" r="-131" b="-9705"/>
          <a:stretch>
            <a:fillRect/>
          </a:stretch>
        </p:blipFill>
        <p:spPr>
          <a:xfrm>
            <a:off x="7461444" y="2370511"/>
            <a:ext cx="4612291" cy="44820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06349E-A350-D196-6FDF-E74068AACAF1}"/>
              </a:ext>
            </a:extLst>
          </p:cNvPr>
          <p:cNvSpPr txBox="1"/>
          <p:nvPr/>
        </p:nvSpPr>
        <p:spPr>
          <a:xfrm>
            <a:off x="8854750" y="608550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Proposed STC</a:t>
            </a:r>
          </a:p>
        </p:txBody>
      </p:sp>
    </p:spTree>
    <p:extLst>
      <p:ext uri="{BB962C8B-B14F-4D97-AF65-F5344CB8AC3E}">
        <p14:creationId xmlns:p14="http://schemas.microsoft.com/office/powerpoint/2010/main" val="368717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1C062-7097-8E05-F3EF-39FC12481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46" y="961054"/>
            <a:ext cx="9475932" cy="512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50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8499B-7A10-5DFC-4A49-D61F4D7ED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87" y="889485"/>
            <a:ext cx="10230781" cy="553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0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1F5428-BF4D-6067-8B10-C8C5E7854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38" y="867326"/>
            <a:ext cx="9941924" cy="537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71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DE85A6C-EE42-BEC2-6BC3-E0A735D65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092" y="837226"/>
            <a:ext cx="7398828" cy="566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67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86ABC-8849-9A97-DAB2-41B916E2D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3" y="2777649"/>
            <a:ext cx="11741753" cy="233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6839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265</Words>
  <Application>Microsoft Office PowerPoint</Application>
  <PresentationFormat>Widescreen</PresentationFormat>
  <Paragraphs>35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Bierstadt</vt:lpstr>
      <vt:lpstr>Courier New</vt:lpstr>
      <vt:lpstr>Rockwell</vt:lpstr>
      <vt:lpstr>GestaltVTI</vt:lpstr>
      <vt:lpstr>Low-Power Redundant-Transition-Free TSPC  Dual-Edge-Triggering Flip-Flop Using  Single-Transistor-Clocked Buffer</vt:lpstr>
      <vt:lpstr>PROBLEM STATEMENT : Eliminating Redundant Transitions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 Dhulgond</dc:creator>
  <cp:lastModifiedBy>IMT2023602 Shudharshan.A</cp:lastModifiedBy>
  <cp:revision>299</cp:revision>
  <dcterms:created xsi:type="dcterms:W3CDTF">2026-03-09T17:30:13Z</dcterms:created>
  <dcterms:modified xsi:type="dcterms:W3CDTF">2026-04-16T05:13:20Z</dcterms:modified>
</cp:coreProperties>
</file>